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76" r:id="rId3"/>
    <p:sldId id="266" r:id="rId4"/>
    <p:sldId id="257" r:id="rId5"/>
    <p:sldId id="267" r:id="rId6"/>
    <p:sldId id="278" r:id="rId7"/>
    <p:sldId id="277" r:id="rId8"/>
    <p:sldId id="265" r:id="rId9"/>
    <p:sldId id="268" r:id="rId10"/>
    <p:sldId id="279" r:id="rId11"/>
    <p:sldId id="280" r:id="rId12"/>
    <p:sldId id="272" r:id="rId13"/>
    <p:sldId id="273" r:id="rId14"/>
    <p:sldId id="259" r:id="rId15"/>
  </p:sldIdLst>
  <p:sldSz cx="12192000" cy="6858000"/>
  <p:notesSz cx="6858000" cy="9144000"/>
  <p:embeddedFontLst>
    <p:embeddedFont>
      <p:font typeface="Lato Black" panose="020F0502020204030203" pitchFamily="34" charset="0"/>
      <p:bold r:id="rId17"/>
      <p:boldItalic r:id="rId18"/>
    </p:embeddedFont>
    <p:embeddedFont>
      <p:font typeface="Libre Baskerville" panose="02000000000000000000" pitchFamily="2"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hivacharan30" TargetMode="External"/><Relationship Id="rId2" Type="http://schemas.openxmlformats.org/officeDocument/2006/relationships/hyperlink" Target="https://www.linkedin.com/in/shivacharan-mandal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776049"/>
          </a:xfrm>
          <a:prstGeom prst="rect">
            <a:avLst/>
          </a:prstGeom>
          <a:noFill/>
          <a:ln>
            <a:noFill/>
          </a:ln>
        </p:spPr>
      </p:pic>
      <p:sp>
        <p:nvSpPr>
          <p:cNvPr id="99" name="Google Shape;99;p1"/>
          <p:cNvSpPr txBox="1"/>
          <p:nvPr/>
        </p:nvSpPr>
        <p:spPr>
          <a:xfrm>
            <a:off x="1005840" y="3561346"/>
            <a:ext cx="9399069" cy="32008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2800" i="0" u="none" strike="noStrike" cap="none" dirty="0">
                <a:solidFill>
                  <a:schemeClr val="dk1"/>
                </a:solidFill>
                <a:latin typeface="Calibri"/>
                <a:ea typeface="Calibri"/>
                <a:cs typeface="Calibri"/>
                <a:sym typeface="Calibri"/>
              </a:rPr>
            </a:br>
            <a:r>
              <a:rPr lang="en-IN" sz="2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RETAIL BANKING TRANSACTION</a:t>
            </a:r>
          </a:p>
          <a:p>
            <a:pPr marL="0" marR="0" lvl="0" indent="0" algn="ctr" rtl="0">
              <a:lnSpc>
                <a:spcPct val="100000"/>
              </a:lnSpc>
              <a:spcBef>
                <a:spcPts val="0"/>
              </a:spcBef>
              <a:spcAft>
                <a:spcPts val="0"/>
              </a:spcAft>
              <a:buClr>
                <a:srgbClr val="000000"/>
              </a:buClr>
              <a:buSzPts val="1800"/>
              <a:buFont typeface="Arial"/>
              <a:buNone/>
            </a:pPr>
            <a:r>
              <a:rPr lang="en-IN" sz="2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ANALYSIS</a:t>
            </a:r>
          </a:p>
          <a:p>
            <a:pPr marL="0" marR="0" lvl="0" indent="0" algn="ctr" rtl="0">
              <a:lnSpc>
                <a:spcPct val="100000"/>
              </a:lnSpc>
              <a:spcBef>
                <a:spcPts val="0"/>
              </a:spcBef>
              <a:spcAft>
                <a:spcPts val="0"/>
              </a:spcAft>
              <a:buClr>
                <a:srgbClr val="000000"/>
              </a:buClr>
              <a:buSzPts val="1800"/>
              <a:buFont typeface="Arial"/>
              <a:buNone/>
            </a:pPr>
            <a:r>
              <a:rPr lang="en-IN" sz="2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SQL Project </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                                                                                    </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 Presented By –</a:t>
            </a:r>
            <a:r>
              <a:rPr lang="en-IN" sz="1800" dirty="0" err="1">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M.shivacharan</a:t>
            </a:r>
            <a:endPar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IN" sz="1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(2025 -2026)</a:t>
            </a:r>
          </a:p>
          <a:p>
            <a:pPr marL="0" marR="0" lvl="0" indent="0" algn="ctr" rtl="0">
              <a:lnSpc>
                <a:spcPct val="100000"/>
              </a:lnSpc>
              <a:spcBef>
                <a:spcPts val="0"/>
              </a:spcBef>
              <a:spcAft>
                <a:spcPts val="0"/>
              </a:spcAft>
              <a:buClr>
                <a:srgbClr val="000000"/>
              </a:buClr>
              <a:buSzPts val="1800"/>
              <a:buFont typeface="Arial"/>
              <a:buNone/>
            </a:pPr>
            <a:r>
              <a:rPr lang="en-IN" sz="18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In </a:t>
            </a:r>
          </a:p>
          <a:p>
            <a:pPr marL="0" marR="0" lvl="0" indent="0" algn="ctr" rtl="0">
              <a:lnSpc>
                <a:spcPct val="100000"/>
              </a:lnSpc>
              <a:spcBef>
                <a:spcPts val="0"/>
              </a:spcBef>
              <a:spcAft>
                <a:spcPts val="0"/>
              </a:spcAft>
              <a:buClr>
                <a:srgbClr val="000000"/>
              </a:buClr>
              <a:buSzPts val="1800"/>
              <a:buFont typeface="Arial"/>
              <a:buNone/>
            </a:pPr>
            <a:r>
              <a:rPr lang="en-IN" sz="1800" i="0" u="none" strike="noStrike" cap="none"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rPr>
              <a:t>Computer Science &amp;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5B5D58-2113-BF7D-40C0-7462CA7D4E2D}"/>
              </a:ext>
            </a:extLst>
          </p:cNvPr>
          <p:cNvSpPr txBox="1"/>
          <p:nvPr/>
        </p:nvSpPr>
        <p:spPr>
          <a:xfrm>
            <a:off x="560671" y="1038345"/>
            <a:ext cx="11085897" cy="1815882"/>
          </a:xfrm>
          <a:prstGeom prst="rect">
            <a:avLst/>
          </a:prstGeom>
          <a:noFill/>
        </p:spPr>
        <p:txBody>
          <a:bodyPr wrap="square">
            <a:spAutoFit/>
          </a:bodyPr>
          <a:lstStyle/>
          <a:p>
            <a:r>
              <a:rPr lang="en-IN" sz="1600">
                <a:latin typeface="Times New Roman" panose="02020603050405020304" pitchFamily="18" charset="0"/>
                <a:cs typeface="Times New Roman" panose="02020603050405020304" pitchFamily="18" charset="0"/>
              </a:rPr>
              <a:t>Hello everyone, my name is Shivacharan. I completed my B.Tech and I am a fresher. I am interested in Data Science and</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 currently learning Python, SQL, Pandas, NumPy, and Data Analysis. I want to improve my technical skills and build a</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 successful career in the Data Science field. I am passionate about learning new technologies and working on real-world </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projects.</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42A7E7-3B35-028D-2DA9-162DE1A35FEB}"/>
              </a:ext>
            </a:extLst>
          </p:cNvPr>
          <p:cNvSpPr txBox="1"/>
          <p:nvPr/>
        </p:nvSpPr>
        <p:spPr>
          <a:xfrm>
            <a:off x="647298" y="3266344"/>
            <a:ext cx="6097604" cy="338554"/>
          </a:xfrm>
          <a:prstGeom prst="rect">
            <a:avLst/>
          </a:prstGeom>
          <a:noFill/>
        </p:spPr>
        <p:txBody>
          <a:bodyPr wrap="square">
            <a:spAutoFit/>
          </a:bodyPr>
          <a:lstStyle/>
          <a:p>
            <a:r>
              <a:rPr lang="en-IN" sz="1600" b="1" i="0" u="none" strike="noStrike" dirty="0">
                <a:solidFill>
                  <a:srgbClr val="FF0000"/>
                </a:solidFill>
                <a:effectLst/>
                <a:latin typeface="Times New Roman" panose="02020603050405020304" pitchFamily="18" charset="0"/>
                <a:cs typeface="Times New Roman" panose="02020603050405020304" pitchFamily="18" charset="0"/>
              </a:rPr>
              <a:t>Why you want to learn Data Science</a:t>
            </a:r>
            <a:endParaRPr lang="en-IN" sz="1600"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117F31A-00C2-2545-7CC3-E5EE8B258057}"/>
              </a:ext>
            </a:extLst>
          </p:cNvPr>
          <p:cNvSpPr txBox="1"/>
          <p:nvPr/>
        </p:nvSpPr>
        <p:spPr>
          <a:xfrm>
            <a:off x="560671" y="475400"/>
            <a:ext cx="6097604" cy="338554"/>
          </a:xfrm>
          <a:prstGeom prst="rect">
            <a:avLst/>
          </a:prstGeom>
          <a:noFill/>
        </p:spPr>
        <p:txBody>
          <a:bodyPr wrap="square">
            <a:spAutoFit/>
          </a:bodyPr>
          <a:lstStyle/>
          <a:p>
            <a:r>
              <a:rPr lang="en-IN" sz="1600" b="1" i="0" u="none" strike="noStrike" dirty="0">
                <a:solidFill>
                  <a:srgbClr val="FF0000"/>
                </a:solidFill>
                <a:effectLst/>
                <a:latin typeface="Times New Roman" panose="02020603050405020304" pitchFamily="18" charset="0"/>
                <a:cs typeface="Times New Roman" panose="02020603050405020304" pitchFamily="18" charset="0"/>
              </a:rPr>
              <a:t>About me</a:t>
            </a:r>
            <a:endParaRPr lang="en-IN" sz="1600"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60D2C5D-BE95-65C7-B456-E55CFC9DDE2F}"/>
              </a:ext>
            </a:extLst>
          </p:cNvPr>
          <p:cNvSpPr txBox="1"/>
          <p:nvPr/>
        </p:nvSpPr>
        <p:spPr>
          <a:xfrm>
            <a:off x="560672" y="3667225"/>
            <a:ext cx="6013384" cy="1815882"/>
          </a:xfrm>
          <a:prstGeom prst="rect">
            <a:avLst/>
          </a:prstGeom>
          <a:noFill/>
        </p:spPr>
        <p:txBody>
          <a:bodyPr wrap="square">
            <a:spAutoFit/>
          </a:bodyPr>
          <a:lstStyle/>
          <a:p>
            <a:pPr>
              <a:buNone/>
            </a:pPr>
            <a:r>
              <a:rPr lang="en-IN" sz="1600" dirty="0">
                <a:latin typeface="Times New Roman" panose="02020603050405020304" pitchFamily="18" charset="0"/>
                <a:cs typeface="Times New Roman" panose="02020603050405020304" pitchFamily="18" charset="0"/>
              </a:rPr>
              <a:t>I want to learn </a:t>
            </a:r>
            <a:r>
              <a:rPr lang="en-IN" sz="1600" b="1" dirty="0">
                <a:latin typeface="Times New Roman" panose="02020603050405020304" pitchFamily="18" charset="0"/>
                <a:cs typeface="Times New Roman" panose="02020603050405020304" pitchFamily="18" charset="0"/>
              </a:rPr>
              <a:t>Data Science</a:t>
            </a:r>
            <a:r>
              <a:rPr lang="en-IN" sz="1600" dirty="0">
                <a:latin typeface="Times New Roman" panose="02020603050405020304" pitchFamily="18" charset="0"/>
                <a:cs typeface="Times New Roman" panose="02020603050405020304" pitchFamily="18" charset="0"/>
              </a:rPr>
              <a:t> because I enjoy working with data.</a:t>
            </a:r>
          </a:p>
          <a:p>
            <a:pPr>
              <a:buNone/>
            </a:pP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It helps solve real-world problems using insights and technology.</a:t>
            </a:r>
          </a:p>
          <a:p>
            <a:pPr>
              <a:buNone/>
            </a:pP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 want to improve my skills in </a:t>
            </a:r>
            <a:r>
              <a:rPr lang="en-IN" sz="1600" b="1" dirty="0">
                <a:latin typeface="Times New Roman" panose="02020603050405020304" pitchFamily="18" charset="0"/>
                <a:cs typeface="Times New Roman" panose="02020603050405020304" pitchFamily="18" charset="0"/>
              </a:rPr>
              <a:t>Python, SQL, and Machine Learning</a:t>
            </a:r>
            <a:r>
              <a:rPr lang="en-IN" sz="1600" dirty="0">
                <a:latin typeface="Times New Roman" panose="02020603050405020304" pitchFamily="18" charset="0"/>
                <a:cs typeface="Times New Roman" panose="02020603050405020304" pitchFamily="18" charset="0"/>
              </a:rPr>
              <a:t>.</a:t>
            </a:r>
          </a:p>
          <a:p>
            <a:pPr>
              <a:buNone/>
            </a:pP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My goal is to build a successful career in the </a:t>
            </a:r>
            <a:r>
              <a:rPr lang="en-IN" sz="1600" b="1" dirty="0">
                <a:latin typeface="Times New Roman" panose="02020603050405020304" pitchFamily="18" charset="0"/>
                <a:cs typeface="Times New Roman" panose="02020603050405020304" pitchFamily="18" charset="0"/>
              </a:rPr>
              <a:t>Data Science field</a:t>
            </a:r>
            <a:r>
              <a:rPr lang="en-IN" sz="1600" dirty="0">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18596341-7250-8399-C729-2771879C0556}"/>
              </a:ext>
            </a:extLst>
          </p:cNvPr>
          <p:cNvSpPr txBox="1"/>
          <p:nvPr/>
        </p:nvSpPr>
        <p:spPr>
          <a:xfrm>
            <a:off x="7815712" y="2799060"/>
            <a:ext cx="6097604" cy="307777"/>
          </a:xfrm>
          <a:prstGeom prst="rect">
            <a:avLst/>
          </a:prstGeom>
          <a:noFill/>
        </p:spPr>
        <p:txBody>
          <a:bodyPr wrap="square">
            <a:spAutoFit/>
          </a:bodyPr>
          <a:lstStyle/>
          <a:p>
            <a:r>
              <a:rPr lang="en-IN" sz="1400" b="1" i="0" u="none" strike="noStrike" dirty="0">
                <a:solidFill>
                  <a:srgbClr val="FF0000"/>
                </a:solidFill>
                <a:effectLst/>
                <a:latin typeface="Arial"/>
              </a:rPr>
              <a:t>Share your LinkedIn and GitHub profile URLs</a:t>
            </a:r>
            <a:endParaRPr lang="en-IN" dirty="0">
              <a:solidFill>
                <a:srgbClr val="FF0000"/>
              </a:solidFill>
            </a:endParaRPr>
          </a:p>
        </p:txBody>
      </p:sp>
      <p:sp>
        <p:nvSpPr>
          <p:cNvPr id="17" name="TextBox 16">
            <a:extLst>
              <a:ext uri="{FF2B5EF4-FFF2-40B4-BE49-F238E27FC236}">
                <a16:creationId xmlns:a16="http://schemas.microsoft.com/office/drawing/2014/main" id="{1CA473CB-407F-AF01-5769-DE1AB8903BFB}"/>
              </a:ext>
            </a:extLst>
          </p:cNvPr>
          <p:cNvSpPr txBox="1"/>
          <p:nvPr/>
        </p:nvSpPr>
        <p:spPr>
          <a:xfrm>
            <a:off x="7786837" y="3349592"/>
            <a:ext cx="4138864" cy="523220"/>
          </a:xfrm>
          <a:prstGeom prst="rect">
            <a:avLst/>
          </a:prstGeom>
          <a:noFill/>
        </p:spPr>
        <p:txBody>
          <a:bodyPr wrap="square">
            <a:spAutoFit/>
          </a:bodyPr>
          <a:lstStyle/>
          <a:p>
            <a:r>
              <a:rPr lang="en-IN" dirty="0">
                <a:hlinkClick r:id="rId2"/>
              </a:rPr>
              <a:t>https://www.linkedin.com/in/shivacharan-mandala</a:t>
            </a:r>
            <a:endParaRPr lang="en-IN" dirty="0"/>
          </a:p>
          <a:p>
            <a:endParaRPr lang="en-IN" dirty="0"/>
          </a:p>
        </p:txBody>
      </p:sp>
      <p:sp>
        <p:nvSpPr>
          <p:cNvPr id="4" name="TextBox 3">
            <a:extLst>
              <a:ext uri="{FF2B5EF4-FFF2-40B4-BE49-F238E27FC236}">
                <a16:creationId xmlns:a16="http://schemas.microsoft.com/office/drawing/2014/main" id="{2CE24D11-D6C3-B01B-7B3D-DF6AE7937AA8}"/>
              </a:ext>
            </a:extLst>
          </p:cNvPr>
          <p:cNvSpPr txBox="1"/>
          <p:nvPr/>
        </p:nvSpPr>
        <p:spPr>
          <a:xfrm>
            <a:off x="7959852" y="3698885"/>
            <a:ext cx="6958584"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hlinkClick r:id="rId3"/>
              </a:rPr>
              <a:t>https://github.com/shivacharan30</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5534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85213E-79A2-E8AE-03A0-F94AF9F99251}"/>
              </a:ext>
            </a:extLst>
          </p:cNvPr>
          <p:cNvSpPr txBox="1"/>
          <p:nvPr/>
        </p:nvSpPr>
        <p:spPr>
          <a:xfrm>
            <a:off x="206477" y="373625"/>
            <a:ext cx="11779046" cy="6432530"/>
          </a:xfrm>
          <a:prstGeom prst="rect">
            <a:avLst/>
          </a:prstGeom>
          <a:noFill/>
        </p:spPr>
        <p:txBody>
          <a:bodyPr wrap="square" rtlCol="0">
            <a:spAutoFit/>
          </a:bodyPr>
          <a:lstStyle/>
          <a:p>
            <a:r>
              <a:rPr lang="en-IN" b="1" dirty="0">
                <a:solidFill>
                  <a:srgbClr val="FF0000"/>
                </a:solidFill>
              </a:rPr>
              <a:t> </a:t>
            </a:r>
            <a:r>
              <a:rPr lang="en-IN" sz="2000" dirty="0">
                <a:solidFill>
                  <a:srgbClr val="FF0000"/>
                </a:solidFill>
                <a:latin typeface="Times New Roman" panose="02020603050405020304" pitchFamily="18" charset="0"/>
                <a:cs typeface="Times New Roman" panose="02020603050405020304" pitchFamily="18" charset="0"/>
              </a:rPr>
              <a:t>TABLE OF CONTENTS</a:t>
            </a:r>
          </a:p>
          <a:p>
            <a:endParaRPr lang="en-IN" b="1" dirty="0">
              <a:solidFill>
                <a:srgbClr val="FF0000"/>
              </a:solidFill>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Introduction </a:t>
            </a:r>
          </a:p>
          <a:p>
            <a:pPr lvl="0" fontAlgn="base"/>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Project Overview</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Business Scenario</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Business Objectives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Dataset &amp; Database Overview</a:t>
            </a:r>
          </a:p>
          <a:p>
            <a:pPr lvl="0" fontAlgn="base"/>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ER Diagram /Database Structure</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Analysis of  the Objectives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1"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Overall keys Findings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Business  Recommendations</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Conclusion</a:t>
            </a:r>
          </a:p>
          <a:p>
            <a:pPr marL="285750" lvl="0" indent="-285750" fontAlgn="base">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marL="285750" lvl="0" indent="-285750"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41098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57882" y="725244"/>
            <a:ext cx="11076236" cy="5816937"/>
          </a:xfrm>
          <a:prstGeom prst="rect">
            <a:avLst/>
          </a:prstGeom>
          <a:noFill/>
          <a:ln>
            <a:noFill/>
          </a:ln>
        </p:spPr>
        <p:txBody>
          <a:bodyPr spcFirstLastPara="1" wrap="square" lIns="91425" tIns="45700" rIns="91425" bIns="45700" anchor="t" anchorCtr="0">
            <a:spAutoFit/>
          </a:bodyPr>
          <a:lstStyle/>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Retail Banking generates large volume of transaction data every day .</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Retail Bank Transaction Analysis focuses on analyzing customer banking transactions to understand spending,patterns,transactions behaviour and financial trends.</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This project mainly  uses SQL  and data analytics techniques to examine deposits,withdrawls,transfers,transaction volumes and customer activity.</a:t>
            </a:r>
          </a:p>
          <a:p>
            <a:pPr lvl="0">
              <a:buClr>
                <a:schemeClr val="dk1"/>
              </a:buClr>
              <a:buSzPts val="2400"/>
            </a:pPr>
            <a:endParaRPr lang="en-US" sz="1600"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US" sz="1600" dirty="0">
                <a:solidFill>
                  <a:schemeClr val="dk1"/>
                </a:solidFill>
                <a:latin typeface="Times New Roman" panose="02020603050405020304" pitchFamily="18" charset="0"/>
                <a:ea typeface="Calibri"/>
                <a:cs typeface="Times New Roman" panose="02020603050405020304" pitchFamily="18" charset="0"/>
                <a:sym typeface="Calibri"/>
              </a:rPr>
              <a:t>It helps identify high- value customers, unusual transactions,popular transactions.</a:t>
            </a:r>
          </a:p>
          <a:p>
            <a:pPr marL="285750" lvl="0" indent="-285750">
              <a:buClr>
                <a:schemeClr val="dk1"/>
              </a:buClr>
              <a:buSzPts val="2400"/>
              <a:buFont typeface="Wingdings" panose="05000000000000000000" pitchFamily="2" charset="2"/>
              <a:buChar char="Ø"/>
            </a:pPr>
            <a:endPar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Calibri"/>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Customer profiles and segmentation</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Account usage and balances</a:t>
            </a:r>
          </a:p>
          <a:p>
            <a:pPr lvl="0">
              <a:buClr>
                <a:schemeClr val="dk1"/>
              </a:buClr>
              <a:buSzPts val="2400"/>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Banking transactions</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Branch performance</a:t>
            </a:r>
          </a:p>
          <a:p>
            <a:pPr marL="285750" lvl="0" indent="-285750">
              <a:buClr>
                <a:schemeClr val="dk1"/>
              </a:buClr>
              <a:buSzPts val="2400"/>
              <a:buFont typeface="Wingdings" panose="05000000000000000000" pitchFamily="2" charset="2"/>
              <a:buChar char="Ø"/>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Loan portfolio and repayment behavior</a:t>
            </a:r>
          </a:p>
          <a:p>
            <a:pPr lvl="0">
              <a:buClr>
                <a:schemeClr val="dk1"/>
              </a:buClr>
              <a:buSzPts val="2400"/>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buClr>
                <a:schemeClr val="dk1"/>
              </a:buClr>
              <a:buSzPts val="2400"/>
              <a:buFont typeface="Wingdings" panose="05000000000000000000" pitchFamily="2" charset="2"/>
              <a:buChar char="Ø"/>
            </a:pPr>
            <a:r>
              <a:rPr lang="en-IN" sz="1600" dirty="0">
                <a:latin typeface="Times New Roman" panose="02020603050405020304" pitchFamily="18" charset="0"/>
                <a:ea typeface="Calibri" panose="020F0502020204030204" pitchFamily="34" charset="0"/>
                <a:cs typeface="Times New Roman" panose="02020603050405020304" pitchFamily="18" charset="0"/>
              </a:rPr>
              <a:t>Card usage and Customer banking-product adoption</a:t>
            </a:r>
          </a:p>
          <a:p>
            <a:pPr marL="285750" lvl="0" indent="-285750">
              <a:buClr>
                <a:schemeClr val="dk1"/>
              </a:buClr>
              <a:buSzPts val="2400"/>
              <a:buFont typeface="Wingdings" panose="05000000000000000000" pitchFamily="2" charset="2"/>
              <a:buChar char="Ø"/>
            </a:pPr>
            <a:endParaRPr lang="en-US" sz="1800" dirty="0">
              <a:solidFill>
                <a:schemeClr val="dk1"/>
              </a:solidFill>
              <a:latin typeface="Calibri"/>
              <a:ea typeface="Calibri"/>
              <a:cs typeface="Calibri"/>
              <a:sym typeface="Calibri"/>
            </a:endParaRPr>
          </a:p>
          <a:p>
            <a:pPr marL="285750" lvl="0" indent="-285750">
              <a:buClr>
                <a:schemeClr val="dk1"/>
              </a:buClr>
              <a:buSzPts val="2400"/>
              <a:buFont typeface="Wingdings" panose="05000000000000000000" pitchFamily="2" charset="2"/>
              <a:buChar char="Ø"/>
            </a:pPr>
            <a:endParaRPr sz="1800"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557882" y="205946"/>
            <a:ext cx="6099600" cy="437002"/>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2800" dirty="0">
                <a:solidFill>
                  <a:srgbClr val="FF0000"/>
                </a:solidFill>
                <a:latin typeface="Times New Roman" panose="02020603050405020304" pitchFamily="18" charset="0"/>
                <a:ea typeface="Calibri"/>
                <a:cs typeface="Times New Roman" panose="02020603050405020304" pitchFamily="18" charset="0"/>
                <a:sym typeface="Calibri"/>
              </a:rPr>
              <a:t>INTRODUCTION</a:t>
            </a:r>
            <a:endParaRPr sz="280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BBDF27-39AA-A5E0-6666-F1D1F39E7A85}"/>
              </a:ext>
            </a:extLst>
          </p:cNvPr>
          <p:cNvSpPr txBox="1"/>
          <p:nvPr/>
        </p:nvSpPr>
        <p:spPr>
          <a:xfrm>
            <a:off x="294968" y="294968"/>
            <a:ext cx="11897032" cy="5724644"/>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PROJECT OVERVIEW</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 The project Uses Retail Banking SQL Business Analytics</a:t>
            </a:r>
            <a:r>
              <a:rPr lang="en-IN" sz="1600" dirty="0">
                <a:latin typeface="Times New Roman" panose="02020603050405020304" pitchFamily="18" charset="0"/>
                <a:cs typeface="Times New Roman" panose="02020603050405020304" pitchFamily="18" charset="0"/>
              </a:rPr>
              <a:t> is a MySQL-based data analytics project designed to analyze customer, account, transaction, loan, and card-related data of a retail bank.</a:t>
            </a:r>
          </a:p>
          <a:p>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The analysis covers five major business areas:</a:t>
            </a:r>
          </a:p>
          <a:p>
            <a:endParaRPr lang="en-IN" sz="1600" b="1"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 Profile &amp; Segmentation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 Usage &amp; Branch Activity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Transaction Patterns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Loan Performance &amp; Repayment Behaviour </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Card Usage &amp; Product Engagement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Key Insight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The project follows a structured process of </a:t>
            </a:r>
            <a:r>
              <a:rPr lang="en-IN" sz="1600" b="1" dirty="0">
                <a:latin typeface="Times New Roman" panose="02020603050405020304" pitchFamily="18" charset="0"/>
                <a:cs typeface="Times New Roman" panose="02020603050405020304" pitchFamily="18" charset="0"/>
              </a:rPr>
              <a:t>database creation from the ER diagram, data import and verification, SQL-based analysis, business-question formulation, findings, insights, and recommendations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8851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09416D-071F-3A32-9FE4-22B6CB4114A9}"/>
              </a:ext>
            </a:extLst>
          </p:cNvPr>
          <p:cNvSpPr txBox="1"/>
          <p:nvPr/>
        </p:nvSpPr>
        <p:spPr>
          <a:xfrm>
            <a:off x="374904" y="1453896"/>
            <a:ext cx="10455021"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retail bank wants to analyze its customer and financial data to understand customer profiles, account usage, transaction behavior, loan performance, and card engagement.</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29AE1F0-5819-4C13-C8E1-04D05774DED0}"/>
              </a:ext>
            </a:extLst>
          </p:cNvPr>
          <p:cNvSpPr txBox="1"/>
          <p:nvPr/>
        </p:nvSpPr>
        <p:spPr>
          <a:xfrm>
            <a:off x="374904" y="580089"/>
            <a:ext cx="6094476" cy="400110"/>
          </a:xfrm>
          <a:prstGeom prst="rect">
            <a:avLst/>
          </a:prstGeom>
          <a:solidFill>
            <a:schemeClr val="bg1"/>
          </a:solidFill>
        </p:spPr>
        <p:txBody>
          <a:bodyPr wrap="square">
            <a:spAutoFit/>
          </a:bodyPr>
          <a:lstStyle/>
          <a:p>
            <a:pPr marL="285750" lvl="0" indent="-285750" fontAlgn="base">
              <a:buFont typeface="Wingdings" panose="05000000000000000000" pitchFamily="2" charset="2"/>
              <a:buChar char="Ø"/>
            </a:pPr>
            <a:r>
              <a:rPr lang="en-IN" sz="2000" dirty="0">
                <a:solidFill>
                  <a:srgbClr val="FF0000"/>
                </a:solidFill>
                <a:latin typeface="Times New Roman" panose="02020603050405020304" pitchFamily="18" charset="0"/>
                <a:cs typeface="Times New Roman" panose="02020603050405020304" pitchFamily="18" charset="0"/>
              </a:rPr>
              <a:t>Business Scenario</a:t>
            </a:r>
          </a:p>
        </p:txBody>
      </p:sp>
      <p:sp>
        <p:nvSpPr>
          <p:cNvPr id="9" name="TextBox 8">
            <a:extLst>
              <a:ext uri="{FF2B5EF4-FFF2-40B4-BE49-F238E27FC236}">
                <a16:creationId xmlns:a16="http://schemas.microsoft.com/office/drawing/2014/main" id="{71E83EB1-452B-821F-51D1-121239E07230}"/>
              </a:ext>
            </a:extLst>
          </p:cNvPr>
          <p:cNvSpPr txBox="1"/>
          <p:nvPr/>
        </p:nvSpPr>
        <p:spPr>
          <a:xfrm>
            <a:off x="595884" y="2310643"/>
            <a:ext cx="10455021"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The bank wants to use these insights to improve customer service, manage financial products, and support better business decisions.</a:t>
            </a:r>
          </a:p>
        </p:txBody>
      </p:sp>
      <p:sp>
        <p:nvSpPr>
          <p:cNvPr id="11" name="TextBox 10">
            <a:extLst>
              <a:ext uri="{FF2B5EF4-FFF2-40B4-BE49-F238E27FC236}">
                <a16:creationId xmlns:a16="http://schemas.microsoft.com/office/drawing/2014/main" id="{CD2C6E44-9590-2886-F7F0-2B53F5EE56CB}"/>
              </a:ext>
            </a:extLst>
          </p:cNvPr>
          <p:cNvSpPr txBox="1"/>
          <p:nvPr/>
        </p:nvSpPr>
        <p:spPr>
          <a:xfrm>
            <a:off x="595884" y="3167390"/>
            <a:ext cx="10357865"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This analysis can help the bank design personalized offers, improve customer retention, and increase cross-selling of banking products.</a:t>
            </a:r>
          </a:p>
        </p:txBody>
      </p:sp>
      <p:sp>
        <p:nvSpPr>
          <p:cNvPr id="15" name="TextBox 14">
            <a:extLst>
              <a:ext uri="{FF2B5EF4-FFF2-40B4-BE49-F238E27FC236}">
                <a16:creationId xmlns:a16="http://schemas.microsoft.com/office/drawing/2014/main" id="{C2A90FE5-62D8-8FB6-A5FE-18CADF293C5F}"/>
              </a:ext>
            </a:extLst>
          </p:cNvPr>
          <p:cNvSpPr txBox="1"/>
          <p:nvPr/>
        </p:nvSpPr>
        <p:spPr>
          <a:xfrm>
            <a:off x="595884" y="4133530"/>
            <a:ext cx="10234041" cy="58477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The bank wants to identify customers who have multiple products, such as accounts, cards, and loans, to improve cross-selling opportunities and increase customer value.</a:t>
            </a:r>
          </a:p>
        </p:txBody>
      </p:sp>
      <p:sp>
        <p:nvSpPr>
          <p:cNvPr id="17" name="TextBox 16">
            <a:extLst>
              <a:ext uri="{FF2B5EF4-FFF2-40B4-BE49-F238E27FC236}">
                <a16:creationId xmlns:a16="http://schemas.microsoft.com/office/drawing/2014/main" id="{2E42974E-28E9-5CF6-D781-D498D554C5CD}"/>
              </a:ext>
            </a:extLst>
          </p:cNvPr>
          <p:cNvSpPr txBox="1"/>
          <p:nvPr/>
        </p:nvSpPr>
        <p:spPr>
          <a:xfrm>
            <a:off x="595883" y="5099670"/>
            <a:ext cx="10234041"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The bank can identify customers with low product usage and create targeted offers to encourage them to adopt additional banking services.</a:t>
            </a:r>
          </a:p>
        </p:txBody>
      </p:sp>
    </p:spTree>
    <p:extLst>
      <p:ext uri="{BB962C8B-B14F-4D97-AF65-F5344CB8AC3E}">
        <p14:creationId xmlns:p14="http://schemas.microsoft.com/office/powerpoint/2010/main" val="1702596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166B869-5457-18C0-D8E3-2FED2E0DCC75}"/>
              </a:ext>
            </a:extLst>
          </p:cNvPr>
          <p:cNvSpPr txBox="1"/>
          <p:nvPr/>
        </p:nvSpPr>
        <p:spPr>
          <a:xfrm>
            <a:off x="325214" y="480183"/>
            <a:ext cx="6094476" cy="400110"/>
          </a:xfrm>
          <a:prstGeom prst="rect">
            <a:avLst/>
          </a:prstGeom>
          <a:noFill/>
        </p:spPr>
        <p:txBody>
          <a:bodyPr wrap="square">
            <a:spAutoFit/>
          </a:bodyPr>
          <a:lstStyle/>
          <a:p>
            <a:pPr marL="285750" lvl="0" indent="-285750" fontAlgn="base">
              <a:buFont typeface="Wingdings" panose="05000000000000000000" pitchFamily="2" charset="2"/>
              <a:buChar char="Ø"/>
            </a:pPr>
            <a:r>
              <a:rPr lang="en-IN" sz="1800" dirty="0">
                <a:solidFill>
                  <a:srgbClr val="FF0000"/>
                </a:solidFill>
                <a:latin typeface="Times New Roman" panose="02020603050405020304" pitchFamily="18" charset="0"/>
                <a:cs typeface="Times New Roman" panose="02020603050405020304" pitchFamily="18" charset="0"/>
              </a:rPr>
              <a:t>Business </a:t>
            </a:r>
            <a:r>
              <a:rPr lang="en-IN" sz="2000" dirty="0">
                <a:solidFill>
                  <a:srgbClr val="FF0000"/>
                </a:solidFill>
                <a:latin typeface="Times New Roman" panose="02020603050405020304" pitchFamily="18" charset="0"/>
                <a:cs typeface="Times New Roman" panose="02020603050405020304" pitchFamily="18" charset="0"/>
              </a:rPr>
              <a:t>Objectives</a:t>
            </a:r>
          </a:p>
        </p:txBody>
      </p:sp>
      <p:sp>
        <p:nvSpPr>
          <p:cNvPr id="6" name="TextBox 5">
            <a:extLst>
              <a:ext uri="{FF2B5EF4-FFF2-40B4-BE49-F238E27FC236}">
                <a16:creationId xmlns:a16="http://schemas.microsoft.com/office/drawing/2014/main" id="{CC2870D1-D07F-FF5E-D061-4B46DB2D3F30}"/>
              </a:ext>
            </a:extLst>
          </p:cNvPr>
          <p:cNvSpPr txBox="1"/>
          <p:nvPr/>
        </p:nvSpPr>
        <p:spPr>
          <a:xfrm>
            <a:off x="706374" y="1287744"/>
            <a:ext cx="4752594"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Customer Analysis</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customer segments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income and credit scores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active and inactive customers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KYC status</a:t>
            </a:r>
          </a:p>
        </p:txBody>
      </p:sp>
      <p:sp>
        <p:nvSpPr>
          <p:cNvPr id="8" name="TextBox 7">
            <a:extLst>
              <a:ext uri="{FF2B5EF4-FFF2-40B4-BE49-F238E27FC236}">
                <a16:creationId xmlns:a16="http://schemas.microsoft.com/office/drawing/2014/main" id="{03D9F2A8-23E5-577D-9F88-5D7E476D8B4A}"/>
              </a:ext>
            </a:extLst>
          </p:cNvPr>
          <p:cNvSpPr txBox="1"/>
          <p:nvPr/>
        </p:nvSpPr>
        <p:spPr>
          <a:xfrm>
            <a:off x="5598414" y="1287745"/>
            <a:ext cx="3472434"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Account &amp; Branch Analysis</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different account types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account balances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branch activity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interest rates</a:t>
            </a:r>
          </a:p>
        </p:txBody>
      </p:sp>
      <p:sp>
        <p:nvSpPr>
          <p:cNvPr id="10" name="TextBox 9">
            <a:extLst>
              <a:ext uri="{FF2B5EF4-FFF2-40B4-BE49-F238E27FC236}">
                <a16:creationId xmlns:a16="http://schemas.microsoft.com/office/drawing/2014/main" id="{F920BE0F-79C4-EC71-5B47-1543B85809BE}"/>
              </a:ext>
            </a:extLst>
          </p:cNvPr>
          <p:cNvSpPr txBox="1"/>
          <p:nvPr/>
        </p:nvSpPr>
        <p:spPr>
          <a:xfrm>
            <a:off x="786384" y="3218689"/>
            <a:ext cx="3922776"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Transaction Analysis</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common transaction types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transaction amounts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Identify popular transaction channels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Find high-activity accounts</a:t>
            </a:r>
          </a:p>
        </p:txBody>
      </p:sp>
      <p:sp>
        <p:nvSpPr>
          <p:cNvPr id="12" name="TextBox 11">
            <a:extLst>
              <a:ext uri="{FF2B5EF4-FFF2-40B4-BE49-F238E27FC236}">
                <a16:creationId xmlns:a16="http://schemas.microsoft.com/office/drawing/2014/main" id="{F6317E45-BB54-5C9A-F87C-8B6EED80AD57}"/>
              </a:ext>
            </a:extLst>
          </p:cNvPr>
          <p:cNvSpPr txBox="1"/>
          <p:nvPr/>
        </p:nvSpPr>
        <p:spPr>
          <a:xfrm>
            <a:off x="5521454" y="3218689"/>
            <a:ext cx="3922776"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Loan Analysis</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loan types and purposes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loan amounts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outstanding balances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Study loan repayment </a:t>
            </a:r>
            <a:r>
              <a:rPr lang="en-IN" sz="1600" dirty="0" err="1">
                <a:latin typeface="Times New Roman" panose="02020603050405020304" pitchFamily="18" charset="0"/>
                <a:cs typeface="Times New Roman" panose="02020603050405020304" pitchFamily="18" charset="0"/>
              </a:rPr>
              <a:t>behavior</a:t>
            </a:r>
            <a:endParaRPr lang="en-IN" sz="1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E40FCCD-A780-142D-D28B-19C4E5531A7B}"/>
              </a:ext>
            </a:extLst>
          </p:cNvPr>
          <p:cNvSpPr txBox="1"/>
          <p:nvPr/>
        </p:nvSpPr>
        <p:spPr>
          <a:xfrm>
            <a:off x="2747772" y="5068443"/>
            <a:ext cx="6094476" cy="1323439"/>
          </a:xfrm>
          <a:prstGeom prst="rect">
            <a:avLst/>
          </a:prstGeom>
          <a:noFill/>
        </p:spPr>
        <p:txBody>
          <a:bodyPr wrap="square">
            <a:spAutoFit/>
          </a:bodyPr>
          <a:lstStyle/>
          <a:p>
            <a:pPr>
              <a:buNone/>
            </a:pPr>
            <a:r>
              <a:rPr lang="en-IN" sz="1600" b="1" dirty="0">
                <a:latin typeface="Times New Roman" panose="02020603050405020304" pitchFamily="18" charset="0"/>
                <a:cs typeface="Times New Roman" panose="02020603050405020304" pitchFamily="18" charset="0"/>
              </a:rPr>
              <a:t>Card Analysis</a:t>
            </a:r>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card types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Compare active and inactive cards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credit limits </a:t>
            </a:r>
          </a:p>
          <a:p>
            <a:pPr marL="342900" lvl="0" indent="-342900">
              <a:buFont typeface="Arial" panose="020B0604020202020204" pitchFamily="34" charset="0"/>
              <a:buChar char="•"/>
            </a:pP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outstanding balances and reward points</a:t>
            </a:r>
          </a:p>
        </p:txBody>
      </p:sp>
    </p:spTree>
    <p:extLst>
      <p:ext uri="{BB962C8B-B14F-4D97-AF65-F5344CB8AC3E}">
        <p14:creationId xmlns:p14="http://schemas.microsoft.com/office/powerpoint/2010/main" val="4080694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BDB34-4FBE-0CBB-8539-E5EF8B44B864}"/>
              </a:ext>
            </a:extLst>
          </p:cNvPr>
          <p:cNvSpPr txBox="1"/>
          <p:nvPr/>
        </p:nvSpPr>
        <p:spPr>
          <a:xfrm>
            <a:off x="427703" y="0"/>
            <a:ext cx="11336594" cy="6386364"/>
          </a:xfrm>
          <a:prstGeom prst="rect">
            <a:avLst/>
          </a:prstGeom>
          <a:noFill/>
        </p:spPr>
        <p:txBody>
          <a:bodyPr wrap="square" rtlCol="0">
            <a:spAutoFit/>
          </a:bodyPr>
          <a:lstStyle/>
          <a:p>
            <a:r>
              <a:rPr lang="en-US" sz="1800" b="1" dirty="0">
                <a:solidFill>
                  <a:srgbClr val="FF0000"/>
                </a:solidFill>
                <a:latin typeface="Times New Roman" panose="02020603050405020304" pitchFamily="18" charset="0"/>
                <a:cs typeface="Times New Roman" panose="02020603050405020304" pitchFamily="18" charset="0"/>
              </a:rPr>
              <a:t>                                             </a:t>
            </a:r>
            <a:r>
              <a:rPr lang="en-US" sz="1800" dirty="0">
                <a:solidFill>
                  <a:srgbClr val="FF0000"/>
                </a:solidFill>
                <a:latin typeface="Times New Roman" panose="02020603050405020304" pitchFamily="18" charset="0"/>
                <a:cs typeface="Times New Roman" panose="02020603050405020304" pitchFamily="18" charset="0"/>
              </a:rPr>
              <a:t>DATASET &amp; DATABASE OVERVIEW</a:t>
            </a:r>
          </a:p>
          <a:p>
            <a:r>
              <a:rPr lang="en-US" sz="1800" dirty="0">
                <a:solidFill>
                  <a:srgbClr val="FF0000"/>
                </a:solidFill>
                <a:latin typeface="Times New Roman" panose="02020603050405020304" pitchFamily="18" charset="0"/>
                <a:cs typeface="Times New Roman" panose="02020603050405020304" pitchFamily="18" charset="0"/>
              </a:rPr>
              <a:t>                                                                                                                                      </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Database : retail_banking analysis</a:t>
            </a:r>
          </a:p>
          <a:p>
            <a:endParaRPr lang="en-US" sz="1800" dirty="0">
              <a:solidFill>
                <a:srgbClr val="FF0000"/>
              </a:solidFill>
              <a:latin typeface="Times New Roman" panose="02020603050405020304" pitchFamily="18" charset="0"/>
              <a:cs typeface="Times New Roman" panose="02020603050405020304" pitchFamily="18" charset="0"/>
            </a:endParaRPr>
          </a:p>
          <a:p>
            <a:r>
              <a:rPr lang="en-US" sz="1800" b="1" dirty="0">
                <a:solidFill>
                  <a:srgbClr val="FF0000"/>
                </a:solidFill>
                <a:latin typeface="Times New Roman" panose="02020603050405020304" pitchFamily="18" charset="0"/>
                <a:cs typeface="Times New Roman" panose="02020603050405020304" pitchFamily="18" charset="0"/>
              </a:rPr>
              <a:t>Dataset Overview                                                                                                         </a:t>
            </a:r>
            <a:endParaRPr 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The Dataset contains:                                                                                                   </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500 Customers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Bank customers their demography, financial and bank details.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700 Bank Accounts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Stores information about customer bank accounts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 Branches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Stores information about different bank branches.</a:t>
            </a: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300 Loans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Stores information about loans taken by customers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600 Cards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Information about banking cards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5000 Transactions –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Banking activities performed by customers</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18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800" b="1" dirty="0">
                <a:solidFill>
                  <a:srgbClr val="FF0000"/>
                </a:solidFill>
                <a:latin typeface="Times New Roman" panose="02020603050405020304" pitchFamily="18" charset="0"/>
                <a:cs typeface="Times New Roman" panose="02020603050405020304" pitchFamily="18" charset="0"/>
              </a:rPr>
              <a:t>Database Overview </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800" dirty="0">
                <a:solidFill>
                  <a:srgbClr val="FF0000"/>
                </a:solidFill>
                <a:latin typeface="Times New Roman" panose="02020603050405020304" pitchFamily="18" charset="0"/>
                <a:cs typeface="Times New Roman" panose="02020603050405020304" pitchFamily="18" charset="0"/>
              </a:rPr>
              <a:t>                                                                                                   </a:t>
            </a: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800" b="1" dirty="0">
                <a:solidFill>
                  <a:schemeClr val="tx1">
                    <a:lumMod val="95000"/>
                    <a:lumOff val="5000"/>
                  </a:schemeClr>
                </a:solidFill>
                <a:latin typeface="Times New Roman" panose="02020603050405020304" pitchFamily="18" charset="0"/>
                <a:cs typeface="Times New Roman" panose="02020603050405020304" pitchFamily="18" charset="0"/>
              </a:rPr>
              <a:t>These are main tables :</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Customers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Accounts                  </a:t>
            </a:r>
          </a:p>
          <a:p>
            <a:pPr marL="285750" indent="-285750">
              <a:lnSpc>
                <a:spcPct val="150000"/>
              </a:lnSpc>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Branches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Loans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Loan Payments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Cards</a:t>
            </a:r>
          </a:p>
          <a:p>
            <a:pPr marL="285750" indent="-285750">
              <a:buFont typeface="Wingdings" panose="05000000000000000000" pitchFamily="2" charset="2"/>
              <a:buChar char="Ø"/>
            </a:pPr>
            <a:r>
              <a:rPr lang="en-US" sz="1800" dirty="0">
                <a:solidFill>
                  <a:schemeClr val="tx1">
                    <a:lumMod val="95000"/>
                    <a:lumOff val="5000"/>
                  </a:schemeClr>
                </a:solidFill>
                <a:latin typeface="Times New Roman" panose="02020603050405020304" pitchFamily="18" charset="0"/>
                <a:cs typeface="Times New Roman" panose="02020603050405020304" pitchFamily="18" charset="0"/>
              </a:rPr>
              <a:t>Transactions</a:t>
            </a:r>
          </a:p>
          <a:p>
            <a:endParaRPr lang="en-IN" sz="1800" dirty="0">
              <a:solidFill>
                <a:srgbClr val="FF0000"/>
              </a:solidFill>
            </a:endParaRPr>
          </a:p>
        </p:txBody>
      </p:sp>
    </p:spTree>
    <p:extLst>
      <p:ext uri="{BB962C8B-B14F-4D97-AF65-F5344CB8AC3E}">
        <p14:creationId xmlns:p14="http://schemas.microsoft.com/office/powerpoint/2010/main" val="269099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a:extLst>
              <a:ext uri="{FF2B5EF4-FFF2-40B4-BE49-F238E27FC236}">
                <a16:creationId xmlns:a16="http://schemas.microsoft.com/office/drawing/2014/main" id="{D329EF31-67D7-B6FA-1786-CBD50C33F14E}"/>
              </a:ext>
            </a:extLst>
          </p:cNvPr>
          <p:cNvPicPr/>
          <p:nvPr/>
        </p:nvPicPr>
        <p:blipFill>
          <a:blip r:embed="rId2"/>
          <a:srcRect/>
          <a:stretch>
            <a:fillRect/>
          </a:stretch>
        </p:blipFill>
        <p:spPr>
          <a:xfrm>
            <a:off x="5664855" y="1073150"/>
            <a:ext cx="6309360" cy="4711700"/>
          </a:xfrm>
          <a:prstGeom prst="rect">
            <a:avLst/>
          </a:prstGeom>
          <a:ln/>
        </p:spPr>
      </p:pic>
      <p:sp>
        <p:nvSpPr>
          <p:cNvPr id="5" name="TextBox 4">
            <a:extLst>
              <a:ext uri="{FF2B5EF4-FFF2-40B4-BE49-F238E27FC236}">
                <a16:creationId xmlns:a16="http://schemas.microsoft.com/office/drawing/2014/main" id="{70EA981C-F49B-6661-124A-394D2E0E99CC}"/>
              </a:ext>
            </a:extLst>
          </p:cNvPr>
          <p:cNvSpPr txBox="1"/>
          <p:nvPr/>
        </p:nvSpPr>
        <p:spPr>
          <a:xfrm>
            <a:off x="3139046" y="155251"/>
            <a:ext cx="4630994" cy="369332"/>
          </a:xfrm>
          <a:prstGeom prst="rect">
            <a:avLst/>
          </a:prstGeom>
          <a:noFill/>
        </p:spPr>
        <p:txBody>
          <a:bodyPr wrap="square" rtlCol="0">
            <a:spAutoFit/>
          </a:bodyPr>
          <a:lstStyle/>
          <a:p>
            <a:r>
              <a:rPr lang="en-US" sz="1800" dirty="0">
                <a:solidFill>
                  <a:srgbClr val="FF0000"/>
                </a:solidFill>
                <a:latin typeface="Times New Roman" panose="02020603050405020304" pitchFamily="18" charset="0"/>
                <a:cs typeface="Times New Roman" panose="02020603050405020304" pitchFamily="18" charset="0"/>
              </a:rPr>
              <a:t>ER  DIAGRAM &amp; Database Structure</a:t>
            </a:r>
            <a:endParaRPr lang="en-IN" sz="1800"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F5CA00B-6603-55CE-1948-2B3095747DF9}"/>
              </a:ext>
            </a:extLst>
          </p:cNvPr>
          <p:cNvSpPr txBox="1"/>
          <p:nvPr/>
        </p:nvSpPr>
        <p:spPr>
          <a:xfrm>
            <a:off x="303246" y="866604"/>
            <a:ext cx="4917683" cy="575542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Key Relationships</a:t>
            </a:r>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Customers → Accounts</a:t>
            </a:r>
          </a:p>
          <a:p>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Branches → Accounts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Branches → Loans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Customers → Loans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Loans → Loan Payments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Accounts → Cards</a:t>
            </a:r>
          </a:p>
          <a:p>
            <a:pPr marL="285750"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Accounts → Transactions</a:t>
            </a:r>
          </a:p>
          <a:p>
            <a:endParaRPr lang="en-IN" sz="1600" dirty="0"/>
          </a:p>
          <a:p>
            <a:r>
              <a:rPr lang="en-IN" sz="1600" b="1" dirty="0">
                <a:latin typeface="Times New Roman" panose="02020603050405020304" pitchFamily="18" charset="0"/>
                <a:cs typeface="Times New Roman" panose="02020603050405020304" pitchFamily="18" charset="0"/>
              </a:rPr>
              <a:t>Key Insight :</a:t>
            </a:r>
          </a:p>
          <a:p>
            <a:endParaRPr lang="en-IN" sz="1600" dirty="0"/>
          </a:p>
          <a:p>
            <a:r>
              <a:rPr lang="en-IN" sz="1600" dirty="0">
                <a:latin typeface="Times New Roman" panose="02020603050405020304" pitchFamily="18" charset="0"/>
                <a:cs typeface="Times New Roman" panose="02020603050405020304" pitchFamily="18" charset="0"/>
              </a:rPr>
              <a:t>The ER model integrates customer, account, transaction, card, loan, branch, and repayment data  relationships, enabling comprehensive analysis of customer behaviour and banking product engagement</a:t>
            </a:r>
          </a:p>
          <a:p>
            <a:pPr marL="285750" indent="-285750">
              <a:buFont typeface="Arial" panose="020B0604020202020204" pitchFamily="34" charset="0"/>
              <a:buChar char="•"/>
            </a:pPr>
            <a:endParaRPr lang="en-US" sz="1600" b="1" dirty="0"/>
          </a:p>
        </p:txBody>
      </p:sp>
    </p:spTree>
    <p:extLst>
      <p:ext uri="{BB962C8B-B14F-4D97-AF65-F5344CB8AC3E}">
        <p14:creationId xmlns:p14="http://schemas.microsoft.com/office/powerpoint/2010/main" val="2627513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EE91F3-29A0-89EB-D066-22E07CC3E6D5}"/>
              </a:ext>
            </a:extLst>
          </p:cNvPr>
          <p:cNvSpPr txBox="1"/>
          <p:nvPr/>
        </p:nvSpPr>
        <p:spPr>
          <a:xfrm>
            <a:off x="276606" y="400550"/>
            <a:ext cx="6094476" cy="369332"/>
          </a:xfrm>
          <a:prstGeom prst="rect">
            <a:avLst/>
          </a:prstGeom>
          <a:noFill/>
        </p:spPr>
        <p:txBody>
          <a:bodyPr wrap="square">
            <a:spAutoFit/>
          </a:bodyPr>
          <a:lstStyle/>
          <a:p>
            <a:pPr marL="285750" lvl="0" indent="-285750" fontAlgn="base">
              <a:buFont typeface="Wingdings" panose="05000000000000000000" pitchFamily="2" charset="2"/>
              <a:buChar char="Ø"/>
            </a:pPr>
            <a:r>
              <a:rPr lang="en-IN" sz="1800" dirty="0">
                <a:solidFill>
                  <a:srgbClr val="FF0000"/>
                </a:solidFill>
                <a:latin typeface="Times New Roman" panose="02020603050405020304" pitchFamily="18" charset="0"/>
                <a:cs typeface="Times New Roman" panose="02020603050405020304" pitchFamily="18" charset="0"/>
              </a:rPr>
              <a:t>Analysis of  the Objectives</a:t>
            </a:r>
          </a:p>
        </p:txBody>
      </p:sp>
      <p:sp>
        <p:nvSpPr>
          <p:cNvPr id="7" name="TextBox 6">
            <a:extLst>
              <a:ext uri="{FF2B5EF4-FFF2-40B4-BE49-F238E27FC236}">
                <a16:creationId xmlns:a16="http://schemas.microsoft.com/office/drawing/2014/main" id="{CB1A5CE4-7DC4-810A-7B9C-833803D71BE7}"/>
              </a:ext>
            </a:extLst>
          </p:cNvPr>
          <p:cNvSpPr txBox="1"/>
          <p:nvPr/>
        </p:nvSpPr>
        <p:spPr>
          <a:xfrm>
            <a:off x="457200" y="855524"/>
            <a:ext cx="7498080" cy="6001643"/>
          </a:xfrm>
          <a:prstGeom prst="rect">
            <a:avLst/>
          </a:prstGeom>
          <a:noFill/>
        </p:spPr>
        <p:txBody>
          <a:bodyPr wrap="square">
            <a:spAutoFit/>
          </a:bodyPr>
          <a:lstStyle/>
          <a:p>
            <a:pPr>
              <a:buNone/>
            </a:pPr>
            <a:r>
              <a:rPr lang="en-IN" sz="1600" dirty="0">
                <a:latin typeface="Times New Roman" panose="02020603050405020304" pitchFamily="18" charset="0"/>
                <a:cs typeface="Times New Roman" panose="02020603050405020304" pitchFamily="18" charset="0"/>
              </a:rPr>
              <a:t>The project </a:t>
            </a: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Customer segmentation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Customer locations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Average annual income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Average credit score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Active/inactive customers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Account balances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Account types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Branch activity</a:t>
            </a:r>
          </a:p>
          <a:p>
            <a:pPr lvl="0"/>
            <a:r>
              <a:rPr lang="en-IN" sz="16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Transaction patterns</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Loan performance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Loan repayment methods</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Card usage and engagement</a:t>
            </a:r>
          </a:p>
        </p:txBody>
      </p:sp>
    </p:spTree>
    <p:extLst>
      <p:ext uri="{BB962C8B-B14F-4D97-AF65-F5344CB8AC3E}">
        <p14:creationId xmlns:p14="http://schemas.microsoft.com/office/powerpoint/2010/main" val="3756470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1BC79A-57D2-C6B6-C4E7-0DECF4C5592B}"/>
              </a:ext>
            </a:extLst>
          </p:cNvPr>
          <p:cNvSpPr txBox="1"/>
          <p:nvPr/>
        </p:nvSpPr>
        <p:spPr>
          <a:xfrm>
            <a:off x="786384" y="950976"/>
            <a:ext cx="8796528" cy="2308324"/>
          </a:xfrm>
          <a:prstGeom prst="rect">
            <a:avLst/>
          </a:prstGeom>
          <a:noFill/>
        </p:spPr>
        <p:txBody>
          <a:bodyPr wrap="square">
            <a:spAutoFit/>
          </a:bodyPr>
          <a:lstStyle/>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Customer segmentation helps understand different customer groups and their financial profiles.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Account analysis identifies account types, balances, and branch performance.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Transaction analysis shows the most frequently used transaction types and channels.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Loan analysis helps identify outstanding balances, loan status, and repayment patterns.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Card analysis provides insights into card usage, credit limits, and outstanding balances.</a:t>
            </a:r>
          </a:p>
        </p:txBody>
      </p:sp>
      <p:sp>
        <p:nvSpPr>
          <p:cNvPr id="5" name="TextBox 4">
            <a:extLst>
              <a:ext uri="{FF2B5EF4-FFF2-40B4-BE49-F238E27FC236}">
                <a16:creationId xmlns:a16="http://schemas.microsoft.com/office/drawing/2014/main" id="{A47C114D-1780-EAE5-E81F-0D7161347490}"/>
              </a:ext>
            </a:extLst>
          </p:cNvPr>
          <p:cNvSpPr txBox="1"/>
          <p:nvPr/>
        </p:nvSpPr>
        <p:spPr>
          <a:xfrm flipH="1">
            <a:off x="786384" y="3429001"/>
            <a:ext cx="7982712" cy="3293209"/>
          </a:xfrm>
          <a:prstGeom prst="rect">
            <a:avLst/>
          </a:prstGeom>
          <a:noFill/>
        </p:spPr>
        <p:txBody>
          <a:bodyPr wrap="square">
            <a:spAutoFit/>
          </a:bodyPr>
          <a:lstStyle/>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Active and inactive customers can be compared to understand overall customer engagement.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Different loan purposes and loan types reveal the major areas where customers require financing.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Card activity and reward points help measure customer engagement with banking products.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Transaction amounts and frequencies help identify high-value accounts and customer spending patterns. </a:t>
            </a:r>
          </a:p>
          <a:p>
            <a:pPr lvl="0"/>
            <a:endParaRPr lang="en-IN" sz="16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Overall analysis helps the bank identify growth opportunities, manage risks, and improve customer services.</a:t>
            </a:r>
          </a:p>
        </p:txBody>
      </p:sp>
      <p:sp>
        <p:nvSpPr>
          <p:cNvPr id="7" name="TextBox 6">
            <a:extLst>
              <a:ext uri="{FF2B5EF4-FFF2-40B4-BE49-F238E27FC236}">
                <a16:creationId xmlns:a16="http://schemas.microsoft.com/office/drawing/2014/main" id="{FF5A9259-A4F9-C0D2-CFDD-22BD332F8B3E}"/>
              </a:ext>
            </a:extLst>
          </p:cNvPr>
          <p:cNvSpPr txBox="1"/>
          <p:nvPr/>
        </p:nvSpPr>
        <p:spPr>
          <a:xfrm>
            <a:off x="786384" y="496794"/>
            <a:ext cx="6032754" cy="369332"/>
          </a:xfrm>
          <a:prstGeom prst="rect">
            <a:avLst/>
          </a:prstGeom>
          <a:noFill/>
        </p:spPr>
        <p:txBody>
          <a:bodyPr wrap="square">
            <a:spAutoFit/>
          </a:bodyPr>
          <a:lstStyle/>
          <a:p>
            <a:pPr marL="285750" lvl="1" indent="-285750" fontAlgn="base">
              <a:buFont typeface="Wingdings" panose="05000000000000000000" pitchFamily="2" charset="2"/>
              <a:buChar char="Ø"/>
            </a:pPr>
            <a:r>
              <a:rPr lang="en-IN" sz="1800" dirty="0">
                <a:solidFill>
                  <a:srgbClr val="FF0000"/>
                </a:solidFill>
                <a:latin typeface="Times New Roman" panose="02020603050405020304" pitchFamily="18" charset="0"/>
                <a:cs typeface="Times New Roman" panose="02020603050405020304" pitchFamily="18" charset="0"/>
              </a:rPr>
              <a:t>Overall keys Findings</a:t>
            </a:r>
          </a:p>
        </p:txBody>
      </p:sp>
    </p:spTree>
    <p:extLst>
      <p:ext uri="{BB962C8B-B14F-4D97-AF65-F5344CB8AC3E}">
        <p14:creationId xmlns:p14="http://schemas.microsoft.com/office/powerpoint/2010/main" val="3377903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F7E8-E362-EE3E-7014-0509FFA9903A}"/>
              </a:ext>
            </a:extLst>
          </p:cNvPr>
          <p:cNvSpPr>
            <a:spLocks noGrp="1"/>
          </p:cNvSpPr>
          <p:nvPr>
            <p:ph type="title"/>
          </p:nvPr>
        </p:nvSpPr>
        <p:spPr>
          <a:xfrm>
            <a:off x="838200" y="365126"/>
            <a:ext cx="10515600" cy="814746"/>
          </a:xfrm>
        </p:spPr>
        <p:txBody>
          <a:bodyPr>
            <a:normAutofit/>
          </a:bodyPr>
          <a:lstStyle/>
          <a:p>
            <a:r>
              <a:rPr lang="en-US" sz="1800" dirty="0">
                <a:solidFill>
                  <a:srgbClr val="FF0000"/>
                </a:solidFill>
                <a:latin typeface="Times New Roman" panose="02020603050405020304" pitchFamily="18" charset="0"/>
                <a:cs typeface="Times New Roman" panose="02020603050405020304" pitchFamily="18" charset="0"/>
              </a:rPr>
              <a:t>Bussiness Recommendation</a:t>
            </a:r>
            <a:endParaRPr lang="en-IN" sz="18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264B7E5-13FA-185A-4B56-8F046033BC17}"/>
              </a:ext>
            </a:extLst>
          </p:cNvPr>
          <p:cNvSpPr>
            <a:spLocks noGrp="1"/>
          </p:cNvSpPr>
          <p:nvPr>
            <p:ph type="body" idx="1"/>
          </p:nvPr>
        </p:nvSpPr>
        <p:spPr>
          <a:xfrm>
            <a:off x="838199" y="1356852"/>
            <a:ext cx="10881853" cy="4680154"/>
          </a:xfrm>
        </p:spPr>
        <p:txBody>
          <a:bodyPr>
            <a:noAutofit/>
          </a:bodyPr>
          <a:lstStyle/>
          <a:p>
            <a:pPr marL="114300" lvl="0" indent="0">
              <a:buNone/>
            </a:pPr>
            <a:r>
              <a:rPr lang="en-IN" sz="1600" b="1" dirty="0">
                <a:latin typeface="Times New Roman" panose="02020603050405020304" pitchFamily="18" charset="0"/>
                <a:cs typeface="Times New Roman" panose="02020603050405020304" pitchFamily="18" charset="0"/>
              </a:rPr>
              <a:t>Understand customers better</a:t>
            </a:r>
            <a:r>
              <a:rPr lang="en-IN" sz="1600" dirty="0">
                <a:latin typeface="Times New Roman" panose="02020603050405020304" pitchFamily="18" charset="0"/>
                <a:cs typeface="Times New Roman" panose="02020603050405020304" pitchFamily="18" charset="0"/>
              </a:rPr>
              <a:t> – Use customer data to offer suitable products. </a:t>
            </a:r>
          </a:p>
          <a:p>
            <a:pPr marL="114300" lvl="0" indent="0">
              <a:buNone/>
            </a:pPr>
            <a:endParaRPr lang="en-IN" sz="1600" dirty="0">
              <a:latin typeface="Times New Roman" panose="02020603050405020304" pitchFamily="18" charset="0"/>
              <a:cs typeface="Times New Roman" panose="02020603050405020304" pitchFamily="18" charset="0"/>
            </a:endParaRPr>
          </a:p>
          <a:p>
            <a:pPr marL="114300" lvl="0" indent="0">
              <a:buNone/>
            </a:pPr>
            <a:r>
              <a:rPr lang="en-IN" sz="1600" b="1" dirty="0">
                <a:latin typeface="Times New Roman" panose="02020603050405020304" pitchFamily="18" charset="0"/>
                <a:cs typeface="Times New Roman" panose="02020603050405020304" pitchFamily="18" charset="0"/>
              </a:rPr>
              <a:t>Increase product usage</a:t>
            </a:r>
            <a:r>
              <a:rPr lang="en-IN" sz="1600" dirty="0">
                <a:latin typeface="Times New Roman" panose="02020603050405020304" pitchFamily="18" charset="0"/>
                <a:cs typeface="Times New Roman" panose="02020603050405020304" pitchFamily="18" charset="0"/>
              </a:rPr>
              <a:t> – Encourage customers to use more banking products like cards, loans, and</a:t>
            </a:r>
          </a:p>
          <a:p>
            <a:pPr marL="114300" lvl="0" indent="0">
              <a:buNone/>
            </a:pPr>
            <a:r>
              <a:rPr lang="en-IN" sz="1600" dirty="0">
                <a:latin typeface="Times New Roman" panose="02020603050405020304" pitchFamily="18" charset="0"/>
                <a:cs typeface="Times New Roman" panose="02020603050405020304" pitchFamily="18" charset="0"/>
              </a:rPr>
              <a:t> accounts. </a:t>
            </a:r>
          </a:p>
          <a:p>
            <a:pPr marL="114300" lvl="0" indent="0">
              <a:buNone/>
            </a:pPr>
            <a:endParaRPr lang="en-IN" sz="1600" dirty="0">
              <a:latin typeface="Times New Roman" panose="02020603050405020304" pitchFamily="18" charset="0"/>
              <a:cs typeface="Times New Roman" panose="02020603050405020304" pitchFamily="18" charset="0"/>
            </a:endParaRPr>
          </a:p>
          <a:p>
            <a:pPr marL="114300" lvl="0" indent="0">
              <a:buNone/>
            </a:pPr>
            <a:r>
              <a:rPr lang="en-IN" sz="1600" b="1" dirty="0">
                <a:latin typeface="Times New Roman" panose="02020603050405020304" pitchFamily="18" charset="0"/>
                <a:cs typeface="Times New Roman" panose="02020603050405020304" pitchFamily="18" charset="0"/>
              </a:rPr>
              <a:t>Monitor transactions</a:t>
            </a:r>
            <a:r>
              <a:rPr lang="en-IN" sz="1600" dirty="0">
                <a:latin typeface="Times New Roman" panose="02020603050405020304" pitchFamily="18" charset="0"/>
                <a:cs typeface="Times New Roman" panose="02020603050405020304" pitchFamily="18" charset="0"/>
              </a:rPr>
              <a:t> – Track transaction activity to identify important changes and patterns. </a:t>
            </a:r>
          </a:p>
          <a:p>
            <a:pPr marL="114300" lvl="0" indent="0">
              <a:buNone/>
            </a:pPr>
            <a:endParaRPr lang="en-IN" sz="1600" dirty="0">
              <a:latin typeface="Times New Roman" panose="02020603050405020304" pitchFamily="18" charset="0"/>
              <a:cs typeface="Times New Roman" panose="02020603050405020304" pitchFamily="18" charset="0"/>
            </a:endParaRPr>
          </a:p>
          <a:p>
            <a:pPr marL="114300" lvl="0" indent="0">
              <a:buNone/>
            </a:pPr>
            <a:r>
              <a:rPr lang="en-IN" sz="1600" b="1" dirty="0">
                <a:latin typeface="Times New Roman" panose="02020603050405020304" pitchFamily="18" charset="0"/>
                <a:cs typeface="Times New Roman" panose="02020603050405020304" pitchFamily="18" charset="0"/>
              </a:rPr>
              <a:t>Improve loan repayment</a:t>
            </a:r>
            <a:r>
              <a:rPr lang="en-IN" sz="1600" dirty="0">
                <a:latin typeface="Times New Roman" panose="02020603050405020304" pitchFamily="18" charset="0"/>
                <a:cs typeface="Times New Roman" panose="02020603050405020304" pitchFamily="18" charset="0"/>
              </a:rPr>
              <a:t> – Monitor late payments and penalties to reduce loan repayment problems. </a:t>
            </a:r>
          </a:p>
          <a:p>
            <a:pPr marL="114300" lvl="0" indent="0">
              <a:buNone/>
            </a:pPr>
            <a:endParaRPr lang="en-IN" sz="1600" dirty="0">
              <a:latin typeface="Times New Roman" panose="02020603050405020304" pitchFamily="18" charset="0"/>
              <a:cs typeface="Times New Roman" panose="02020603050405020304" pitchFamily="18" charset="0"/>
            </a:endParaRPr>
          </a:p>
          <a:p>
            <a:pPr marL="114300" lvl="0" indent="0">
              <a:buNone/>
            </a:pPr>
            <a:r>
              <a:rPr lang="en-IN" sz="1600" b="1" dirty="0">
                <a:latin typeface="Times New Roman" panose="02020603050405020304" pitchFamily="18" charset="0"/>
                <a:cs typeface="Times New Roman" panose="02020603050405020304" pitchFamily="18" charset="0"/>
              </a:rPr>
              <a:t>Improve customer service</a:t>
            </a:r>
            <a:r>
              <a:rPr lang="en-IN" sz="1600" dirty="0">
                <a:latin typeface="Times New Roman" panose="02020603050405020304" pitchFamily="18" charset="0"/>
                <a:cs typeface="Times New Roman" panose="02020603050405020304" pitchFamily="18" charset="0"/>
              </a:rPr>
              <a:t> – Use data insights to provide better services and make better business decisions.</a:t>
            </a:r>
          </a:p>
          <a:p>
            <a:pPr marL="114300" lvl="0" indent="0">
              <a:buNone/>
            </a:pPr>
            <a:endParaRPr lang="en-IN" sz="1600" dirty="0"/>
          </a:p>
          <a:p>
            <a:pPr>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Overall recommendation bank should use customer and transaction data to improve services, increase product usage, and better understand customer needs. It should also monitor loan repayments and financial activity to reduce risks and make better business decisions.</a:t>
            </a:r>
          </a:p>
        </p:txBody>
      </p:sp>
    </p:spTree>
    <p:extLst>
      <p:ext uri="{BB962C8B-B14F-4D97-AF65-F5344CB8AC3E}">
        <p14:creationId xmlns:p14="http://schemas.microsoft.com/office/powerpoint/2010/main" val="2007821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485C-A480-D190-CFDE-F9D37D274EAC}"/>
              </a:ext>
            </a:extLst>
          </p:cNvPr>
          <p:cNvSpPr>
            <a:spLocks noGrp="1"/>
          </p:cNvSpPr>
          <p:nvPr>
            <p:ph type="title"/>
          </p:nvPr>
        </p:nvSpPr>
        <p:spPr>
          <a:xfrm>
            <a:off x="621890" y="0"/>
            <a:ext cx="10515600" cy="775417"/>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Conclusion</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B6BB180-4465-ABED-2C72-AB9396264385}"/>
              </a:ext>
            </a:extLst>
          </p:cNvPr>
          <p:cNvSpPr>
            <a:spLocks noGrp="1"/>
          </p:cNvSpPr>
          <p:nvPr>
            <p:ph type="body" idx="1"/>
          </p:nvPr>
        </p:nvSpPr>
        <p:spPr>
          <a:xfrm>
            <a:off x="474407" y="1052052"/>
            <a:ext cx="11058832" cy="4326193"/>
          </a:xfrm>
        </p:spPr>
        <p:txBody>
          <a:bodyPr>
            <a:normAutofit/>
          </a:bodyPr>
          <a:lstStyle/>
          <a:p>
            <a:pPr marL="114300" indent="0">
              <a:buNone/>
            </a:pPr>
            <a:r>
              <a:rPr lang="en-IN" sz="1800" dirty="0">
                <a:solidFill>
                  <a:schemeClr val="tx1"/>
                </a:solidFill>
                <a:latin typeface="Times New Roman" panose="02020603050405020304" pitchFamily="18" charset="0"/>
                <a:cs typeface="Times New Roman" panose="02020603050405020304" pitchFamily="18" charset="0"/>
              </a:rPr>
              <a:t>This project helped the bank understand its </a:t>
            </a:r>
            <a:r>
              <a:rPr lang="en-IN" sz="1800" b="1" dirty="0">
                <a:solidFill>
                  <a:schemeClr val="tx1"/>
                </a:solidFill>
                <a:latin typeface="Times New Roman" panose="02020603050405020304" pitchFamily="18" charset="0"/>
                <a:cs typeface="Times New Roman" panose="02020603050405020304" pitchFamily="18" charset="0"/>
              </a:rPr>
              <a:t>customers, accounts, branches, transactions, loans, and cards</a:t>
            </a:r>
            <a:r>
              <a:rPr lang="en-IN" sz="1800" dirty="0">
                <a:solidFill>
                  <a:schemeClr val="tx1"/>
                </a:solidFill>
                <a:latin typeface="Times New Roman" panose="02020603050405020304" pitchFamily="18" charset="0"/>
                <a:cs typeface="Times New Roman" panose="02020603050405020304" pitchFamily="18" charset="0"/>
              </a:rPr>
              <a:t> using SQL analysis.</a:t>
            </a:r>
          </a:p>
          <a:p>
            <a:pPr marL="114300" indent="0">
              <a:buNone/>
            </a:pPr>
            <a:endParaRPr lang="en-IN" sz="1800" dirty="0">
              <a:solidFill>
                <a:schemeClr val="tx1"/>
              </a:solidFill>
              <a:latin typeface="Times New Roman" panose="02020603050405020304" pitchFamily="18" charset="0"/>
              <a:cs typeface="Times New Roman" panose="02020603050405020304" pitchFamily="18" charset="0"/>
            </a:endParaRPr>
          </a:p>
          <a:p>
            <a:pPr lvl="0"/>
            <a:r>
              <a:rPr lang="en-IN" sz="1800" b="1" dirty="0">
                <a:solidFill>
                  <a:schemeClr val="tx1"/>
                </a:solidFill>
                <a:latin typeface="Times New Roman" panose="02020603050405020304" pitchFamily="18" charset="0"/>
                <a:cs typeface="Times New Roman" panose="02020603050405020304" pitchFamily="18" charset="0"/>
              </a:rPr>
              <a:t>Customers:</a:t>
            </a:r>
            <a:r>
              <a:rPr lang="en-IN" sz="1800" dirty="0">
                <a:solidFill>
                  <a:schemeClr val="tx1"/>
                </a:solidFill>
                <a:latin typeface="Times New Roman" panose="02020603050405020304" pitchFamily="18" charset="0"/>
                <a:cs typeface="Times New Roman" panose="02020603050405020304" pitchFamily="18" charset="0"/>
              </a:rPr>
              <a:t> The bank can better understand customer segments, income, credit scores, and activity. </a:t>
            </a:r>
          </a:p>
          <a:p>
            <a:pPr lvl="0"/>
            <a:r>
              <a:rPr lang="en-IN" sz="1800" b="1" dirty="0">
                <a:solidFill>
                  <a:schemeClr val="tx1"/>
                </a:solidFill>
                <a:latin typeface="Times New Roman" panose="02020603050405020304" pitchFamily="18" charset="0"/>
                <a:cs typeface="Times New Roman" panose="02020603050405020304" pitchFamily="18" charset="0"/>
              </a:rPr>
              <a:t>Accounts:</a:t>
            </a:r>
            <a:r>
              <a:rPr lang="en-IN" sz="1800" dirty="0">
                <a:solidFill>
                  <a:schemeClr val="tx1"/>
                </a:solidFill>
                <a:latin typeface="Times New Roman" panose="02020603050405020304" pitchFamily="18" charset="0"/>
                <a:cs typeface="Times New Roman" panose="02020603050405020304" pitchFamily="18" charset="0"/>
              </a:rPr>
              <a:t> Account balances, account types, and usage can be compared to understand customer banking needs. </a:t>
            </a:r>
          </a:p>
          <a:p>
            <a:pPr lvl="0"/>
            <a:r>
              <a:rPr lang="en-IN" sz="1800" b="1" dirty="0">
                <a:solidFill>
                  <a:schemeClr val="tx1"/>
                </a:solidFill>
                <a:latin typeface="Times New Roman" panose="02020603050405020304" pitchFamily="18" charset="0"/>
                <a:cs typeface="Times New Roman" panose="02020603050405020304" pitchFamily="18" charset="0"/>
              </a:rPr>
              <a:t>Branches:</a:t>
            </a:r>
            <a:r>
              <a:rPr lang="en-IN" sz="1800" dirty="0">
                <a:solidFill>
                  <a:schemeClr val="tx1"/>
                </a:solidFill>
                <a:latin typeface="Times New Roman" panose="02020603050405020304" pitchFamily="18" charset="0"/>
                <a:cs typeface="Times New Roman" panose="02020603050405020304" pitchFamily="18" charset="0"/>
              </a:rPr>
              <a:t> Branch activity and account balances can be compared to identify strong and weak-performing branches. </a:t>
            </a:r>
          </a:p>
          <a:p>
            <a:pPr lvl="0"/>
            <a:r>
              <a:rPr lang="en-IN" sz="1800" b="1" dirty="0">
                <a:solidFill>
                  <a:schemeClr val="tx1"/>
                </a:solidFill>
                <a:latin typeface="Times New Roman" panose="02020603050405020304" pitchFamily="18" charset="0"/>
                <a:cs typeface="Times New Roman" panose="02020603050405020304" pitchFamily="18" charset="0"/>
              </a:rPr>
              <a:t>Loans:</a:t>
            </a:r>
            <a:r>
              <a:rPr lang="en-IN" sz="1800" dirty="0">
                <a:solidFill>
                  <a:schemeClr val="tx1"/>
                </a:solidFill>
                <a:latin typeface="Times New Roman" panose="02020603050405020304" pitchFamily="18" charset="0"/>
                <a:cs typeface="Times New Roman" panose="02020603050405020304" pitchFamily="18" charset="0"/>
              </a:rPr>
              <a:t> Loan amounts, outstanding balances, repayment delays, and penalties can be monitored to improve loan performance. </a:t>
            </a:r>
          </a:p>
          <a:p>
            <a:pPr lvl="0"/>
            <a:r>
              <a:rPr lang="en-IN" sz="1800" b="1" dirty="0">
                <a:solidFill>
                  <a:schemeClr val="tx1"/>
                </a:solidFill>
                <a:latin typeface="Times New Roman" panose="02020603050405020304" pitchFamily="18" charset="0"/>
                <a:cs typeface="Times New Roman" panose="02020603050405020304" pitchFamily="18" charset="0"/>
              </a:rPr>
              <a:t>Overall:</a:t>
            </a:r>
            <a:r>
              <a:rPr lang="en-IN" sz="1800" dirty="0">
                <a:solidFill>
                  <a:schemeClr val="tx1"/>
                </a:solidFill>
                <a:latin typeface="Times New Roman" panose="02020603050405020304" pitchFamily="18" charset="0"/>
                <a:cs typeface="Times New Roman" panose="02020603050405020304" pitchFamily="18" charset="0"/>
              </a:rPr>
              <a:t> The analysis helps the bank understand customer behaviour, reduce financial risks, improve services, and make better business decisions.</a:t>
            </a:r>
          </a:p>
          <a:p>
            <a:endParaRPr lang="en-IN" sz="1800" dirty="0"/>
          </a:p>
        </p:txBody>
      </p:sp>
    </p:spTree>
    <p:extLst>
      <p:ext uri="{BB962C8B-B14F-4D97-AF65-F5344CB8AC3E}">
        <p14:creationId xmlns:p14="http://schemas.microsoft.com/office/powerpoint/2010/main" val="1995256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TotalTime>
  <Words>1209</Words>
  <Application>Microsoft Office PowerPoint</Application>
  <PresentationFormat>Widescreen</PresentationFormat>
  <Paragraphs>227</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Lato Black</vt:lpstr>
      <vt:lpstr>Libre Baskerville</vt:lpstr>
      <vt:lpstr>Calibri</vt:lpstr>
      <vt:lpstr>Wingdings</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Bussiness Recommendation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MANDALA SHIVACHARAN m shivacharan</cp:lastModifiedBy>
  <cp:revision>6</cp:revision>
  <dcterms:created xsi:type="dcterms:W3CDTF">2021-02-16T05:19:01Z</dcterms:created>
  <dcterms:modified xsi:type="dcterms:W3CDTF">2026-10-14T16:42:13Z</dcterms:modified>
</cp:coreProperties>
</file>